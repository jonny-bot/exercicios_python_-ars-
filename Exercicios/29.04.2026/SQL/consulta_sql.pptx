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7" r:id="rId20"/>
    <p:sldId id="276" r:id="rId2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29/04/2026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29/04/2026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29/04/2026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29/04/2026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29/04/2026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29/04/2026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29/04/2026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29/04/2026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29/04/2026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29/04/2026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29/04/2026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29/04/2026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Banco de Dados (SQL)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 smtClean="0"/>
              <a:t>By</a:t>
            </a:r>
            <a:r>
              <a:rPr lang="pt-BR" dirty="0" smtClean="0"/>
              <a:t>:</a:t>
            </a:r>
          </a:p>
          <a:p>
            <a:r>
              <a:rPr lang="pt-BR" dirty="0" smtClean="0"/>
              <a:t>João Victor </a:t>
            </a:r>
            <a:r>
              <a:rPr lang="pt-BR" dirty="0" err="1" smtClean="0"/>
              <a:t>Segato</a:t>
            </a:r>
            <a:r>
              <a:rPr lang="pt-BR" dirty="0" smtClean="0"/>
              <a:t> Bonifacio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it-IT" dirty="0" smtClean="0">
                <a:solidFill>
                  <a:srgbClr val="00B050"/>
                </a:solidFill>
              </a:rPr>
              <a:t>-- Criar Banco de Dados</a:t>
            </a:r>
          </a:p>
          <a:p>
            <a:pPr>
              <a:buNone/>
            </a:pPr>
            <a:r>
              <a:rPr lang="it-IT" dirty="0" smtClean="0">
                <a:solidFill>
                  <a:srgbClr val="FF0000"/>
                </a:solidFill>
              </a:rPr>
              <a:t>CREATE </a:t>
            </a:r>
            <a:r>
              <a:rPr lang="it-IT" dirty="0">
                <a:solidFill>
                  <a:srgbClr val="FF0000"/>
                </a:solidFill>
              </a:rPr>
              <a:t>DATABASE </a:t>
            </a:r>
            <a:r>
              <a:rPr lang="it-IT" dirty="0" smtClean="0">
                <a:solidFill>
                  <a:schemeClr val="accent4"/>
                </a:solidFill>
              </a:rPr>
              <a:t>nome_banco</a:t>
            </a:r>
            <a:r>
              <a:rPr lang="it-IT" dirty="0" smtClean="0"/>
              <a:t>;</a:t>
            </a:r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r>
              <a:rPr lang="it-IT" dirty="0" smtClean="0">
                <a:solidFill>
                  <a:srgbClr val="00B050"/>
                </a:solidFill>
              </a:rPr>
              <a:t>-- Selecionar Banco de Dados</a:t>
            </a:r>
            <a:endParaRPr lang="it-IT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it-IT" dirty="0">
                <a:solidFill>
                  <a:srgbClr val="FF0000"/>
                </a:solidFill>
              </a:rPr>
              <a:t>USE </a:t>
            </a:r>
            <a:r>
              <a:rPr lang="it-IT" dirty="0" smtClean="0"/>
              <a:t>nome_banco;</a:t>
            </a:r>
          </a:p>
          <a:p>
            <a:pPr>
              <a:buNone/>
            </a:pPr>
            <a:endParaRPr lang="it-IT" dirty="0"/>
          </a:p>
          <a:p>
            <a:pPr>
              <a:buNone/>
            </a:pPr>
            <a:r>
              <a:rPr lang="it-IT" dirty="0" smtClean="0">
                <a:solidFill>
                  <a:srgbClr val="00B050"/>
                </a:solidFill>
              </a:rPr>
              <a:t>-- Excluir Banco de Dados</a:t>
            </a:r>
            <a:endParaRPr lang="it-IT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it-IT" dirty="0">
                <a:solidFill>
                  <a:srgbClr val="FF0000"/>
                </a:solidFill>
              </a:rPr>
              <a:t>DROP DATABASE </a:t>
            </a:r>
            <a:r>
              <a:rPr lang="it-IT" dirty="0" smtClean="0"/>
              <a:t>nome_banco;</a:t>
            </a:r>
            <a:endParaRPr lang="it-IT" dirty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SELECT (Consulta</a:t>
            </a:r>
            <a:r>
              <a:rPr lang="pt-BR" dirty="0" smtClean="0"/>
              <a:t>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>
                <a:solidFill>
                  <a:srgbClr val="00B050"/>
                </a:solidFill>
              </a:rPr>
              <a:t>-- Selecionar Colunas Especificas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SELECT</a:t>
            </a:r>
            <a:r>
              <a:rPr lang="pt-BR" dirty="0" smtClean="0"/>
              <a:t> </a:t>
            </a:r>
            <a:r>
              <a:rPr lang="pt-BR" dirty="0"/>
              <a:t>coluna1, </a:t>
            </a:r>
            <a:r>
              <a:rPr lang="pt-BR" dirty="0" smtClean="0"/>
              <a:t>coluna2</a:t>
            </a:r>
            <a:r>
              <a:rPr lang="pt-BR" dirty="0"/>
              <a:t> </a:t>
            </a:r>
            <a:r>
              <a:rPr lang="pt-BR" dirty="0" smtClean="0">
                <a:solidFill>
                  <a:srgbClr val="FF0000"/>
                </a:solidFill>
              </a:rPr>
              <a:t>FROM</a:t>
            </a:r>
            <a:r>
              <a:rPr lang="pt-BR" dirty="0" smtClean="0"/>
              <a:t> </a:t>
            </a:r>
            <a:r>
              <a:rPr lang="pt-BR" dirty="0"/>
              <a:t>tabela</a:t>
            </a:r>
            <a:r>
              <a:rPr lang="pt-BR" dirty="0" smtClean="0"/>
              <a:t>;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>
                <a:solidFill>
                  <a:srgbClr val="00B050"/>
                </a:solidFill>
              </a:rPr>
              <a:t>-- Selecionar a Tabela Inteira</a:t>
            </a:r>
            <a:endParaRPr lang="pt-BR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SELECT</a:t>
            </a:r>
            <a:r>
              <a:rPr lang="pt-BR" dirty="0" smtClean="0"/>
              <a:t> </a:t>
            </a:r>
            <a:r>
              <a:rPr lang="pt-BR" dirty="0"/>
              <a:t>* </a:t>
            </a:r>
            <a:r>
              <a:rPr lang="pt-BR" dirty="0">
                <a:solidFill>
                  <a:srgbClr val="FF0000"/>
                </a:solidFill>
              </a:rPr>
              <a:t>FROM</a:t>
            </a:r>
            <a:r>
              <a:rPr lang="pt-BR" dirty="0"/>
              <a:t> tabela;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WHERE (FILTROS 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--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Aplicando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Filtros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SELECT</a:t>
            </a:r>
            <a:r>
              <a:rPr lang="en-US" dirty="0" smtClean="0"/>
              <a:t> </a:t>
            </a:r>
            <a:r>
              <a:rPr lang="en-US" dirty="0"/>
              <a:t>* </a:t>
            </a:r>
            <a:r>
              <a:rPr lang="en-US" dirty="0">
                <a:solidFill>
                  <a:srgbClr val="FF0000"/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 smtClean="0"/>
              <a:t>tabela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WHERE</a:t>
            </a:r>
            <a:r>
              <a:rPr lang="en-US" dirty="0" smtClean="0"/>
              <a:t> </a:t>
            </a:r>
            <a:r>
              <a:rPr lang="en-US" dirty="0" err="1"/>
              <a:t>coluna</a:t>
            </a:r>
            <a:r>
              <a:rPr lang="en-US" dirty="0"/>
              <a:t> = </a:t>
            </a:r>
            <a:r>
              <a:rPr lang="en-US" dirty="0" smtClean="0">
                <a:solidFill>
                  <a:srgbClr val="00B0F0"/>
                </a:solidFill>
              </a:rPr>
              <a:t>12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-- </a:t>
            </a:r>
            <a:r>
              <a:rPr lang="en-US" dirty="0" err="1" smtClean="0">
                <a:solidFill>
                  <a:srgbClr val="00B050"/>
                </a:solidFill>
              </a:rPr>
              <a:t>Exemplo</a:t>
            </a:r>
            <a:r>
              <a:rPr lang="en-US" dirty="0" smtClean="0">
                <a:solidFill>
                  <a:srgbClr val="00B050"/>
                </a:solidFill>
              </a:rPr>
              <a:t>: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SELECT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*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FROM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/>
              <a:t>produtos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WHERE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/>
              <a:t>marca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B050"/>
                </a:solidFill>
              </a:rPr>
              <a:t>'Dell';</a:t>
            </a:r>
          </a:p>
          <a:p>
            <a:pPr>
              <a:buNone/>
            </a:pPr>
            <a:endParaRPr lang="en-US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SELECT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*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FROM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/>
              <a:t>produtos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WHERE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/>
              <a:t>marca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B050"/>
                </a:solidFill>
              </a:rPr>
              <a:t>'Dell' </a:t>
            </a:r>
            <a:r>
              <a:rPr lang="en-US" dirty="0" smtClean="0">
                <a:solidFill>
                  <a:srgbClr val="FF0000"/>
                </a:solidFill>
              </a:rPr>
              <a:t>AND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/>
              <a:t>marca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B050"/>
                </a:solidFill>
              </a:rPr>
              <a:t>'Apple‘;</a:t>
            </a:r>
          </a:p>
          <a:p>
            <a:pPr>
              <a:buNone/>
            </a:pPr>
            <a:endParaRPr lang="en-US" dirty="0" smtClean="0">
              <a:solidFill>
                <a:srgbClr val="00B05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Operadores Lógicos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500174"/>
            <a:ext cx="4186238" cy="462598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200" dirty="0" smtClean="0"/>
              <a:t>= (Igual) </a:t>
            </a:r>
            <a:r>
              <a:rPr lang="pt-BR" sz="2200" dirty="0" smtClean="0">
                <a:solidFill>
                  <a:srgbClr val="00B050"/>
                </a:solidFill>
              </a:rPr>
              <a:t>--</a:t>
            </a:r>
            <a:r>
              <a:rPr lang="en-US" sz="2200" dirty="0" smtClean="0"/>
              <a:t> </a:t>
            </a:r>
            <a:r>
              <a:rPr lang="en-US" sz="2200" dirty="0" err="1" smtClean="0">
                <a:solidFill>
                  <a:srgbClr val="00B050"/>
                </a:solidFill>
              </a:rPr>
              <a:t>coluna</a:t>
            </a:r>
            <a:r>
              <a:rPr lang="en-US" sz="2200" dirty="0" smtClean="0">
                <a:solidFill>
                  <a:srgbClr val="00B050"/>
                </a:solidFill>
              </a:rPr>
              <a:t> = 12;</a:t>
            </a:r>
          </a:p>
          <a:p>
            <a:pPr>
              <a:buNone/>
            </a:pPr>
            <a:endParaRPr lang="pt-BR" sz="2200" dirty="0" smtClean="0">
              <a:solidFill>
                <a:srgbClr val="00B050"/>
              </a:solidFill>
            </a:endParaRPr>
          </a:p>
          <a:p>
            <a:pPr>
              <a:buNone/>
            </a:pPr>
            <a:r>
              <a:rPr lang="pt-BR" sz="2200" dirty="0" smtClean="0"/>
              <a:t>&gt; (Maior) </a:t>
            </a:r>
            <a:r>
              <a:rPr lang="pt-BR" sz="2200" dirty="0" smtClean="0">
                <a:solidFill>
                  <a:srgbClr val="00B050"/>
                </a:solidFill>
              </a:rPr>
              <a:t>--</a:t>
            </a:r>
            <a:r>
              <a:rPr lang="en-US" sz="2200" dirty="0" smtClean="0"/>
              <a:t> </a:t>
            </a:r>
            <a:r>
              <a:rPr lang="en-US" sz="2200" dirty="0" err="1" smtClean="0">
                <a:solidFill>
                  <a:srgbClr val="00B050"/>
                </a:solidFill>
              </a:rPr>
              <a:t>coluna</a:t>
            </a:r>
            <a:r>
              <a:rPr lang="en-US" sz="2200" dirty="0" smtClean="0">
                <a:solidFill>
                  <a:srgbClr val="00B050"/>
                </a:solidFill>
              </a:rPr>
              <a:t> &gt; 12;</a:t>
            </a:r>
          </a:p>
          <a:p>
            <a:pPr>
              <a:buFont typeface="Wingdings"/>
              <a:buChar char="Ø"/>
            </a:pPr>
            <a:endParaRPr lang="pt-BR" sz="2200" dirty="0" smtClean="0"/>
          </a:p>
          <a:p>
            <a:pPr>
              <a:buNone/>
            </a:pPr>
            <a:r>
              <a:rPr lang="pt-BR" sz="2200" dirty="0" smtClean="0"/>
              <a:t>&lt; (Menor) </a:t>
            </a:r>
            <a:r>
              <a:rPr lang="pt-BR" sz="2200" dirty="0" smtClean="0">
                <a:solidFill>
                  <a:srgbClr val="00B050"/>
                </a:solidFill>
              </a:rPr>
              <a:t>--</a:t>
            </a:r>
            <a:r>
              <a:rPr lang="en-US" sz="2200" dirty="0" smtClean="0"/>
              <a:t> </a:t>
            </a:r>
            <a:r>
              <a:rPr lang="en-US" sz="2200" dirty="0" err="1" smtClean="0">
                <a:solidFill>
                  <a:srgbClr val="00B050"/>
                </a:solidFill>
              </a:rPr>
              <a:t>coluna</a:t>
            </a:r>
            <a:r>
              <a:rPr lang="en-US" sz="2200" dirty="0" smtClean="0">
                <a:solidFill>
                  <a:srgbClr val="00B050"/>
                </a:solidFill>
              </a:rPr>
              <a:t> &lt; 12;</a:t>
            </a:r>
          </a:p>
          <a:p>
            <a:pPr>
              <a:buNone/>
            </a:pPr>
            <a:endParaRPr lang="pt-BR" sz="2200" dirty="0" smtClean="0"/>
          </a:p>
          <a:p>
            <a:pPr>
              <a:buNone/>
            </a:pPr>
            <a:r>
              <a:rPr lang="pt-BR" sz="2200" dirty="0" smtClean="0"/>
              <a:t>&gt;= (Maior Igual) </a:t>
            </a:r>
            <a:r>
              <a:rPr lang="pt-BR" sz="2200" dirty="0" smtClean="0">
                <a:solidFill>
                  <a:srgbClr val="00B050"/>
                </a:solidFill>
              </a:rPr>
              <a:t>--</a:t>
            </a:r>
            <a:r>
              <a:rPr lang="en-US" sz="2200" dirty="0" smtClean="0"/>
              <a:t> </a:t>
            </a:r>
            <a:r>
              <a:rPr lang="en-US" sz="2200" dirty="0" err="1" smtClean="0">
                <a:solidFill>
                  <a:srgbClr val="00B050"/>
                </a:solidFill>
              </a:rPr>
              <a:t>coluna</a:t>
            </a:r>
            <a:r>
              <a:rPr lang="en-US" sz="2200" dirty="0" smtClean="0">
                <a:solidFill>
                  <a:srgbClr val="00B050"/>
                </a:solidFill>
              </a:rPr>
              <a:t> &gt;= 12;</a:t>
            </a:r>
          </a:p>
          <a:p>
            <a:pPr>
              <a:buNone/>
            </a:pPr>
            <a:endParaRPr lang="pt-BR" sz="2200" dirty="0" smtClean="0"/>
          </a:p>
          <a:p>
            <a:pPr>
              <a:buNone/>
            </a:pPr>
            <a:r>
              <a:rPr lang="pt-BR" sz="2200" dirty="0" smtClean="0"/>
              <a:t>&lt;= (Menor Igual)</a:t>
            </a:r>
            <a:r>
              <a:rPr lang="pt-BR" sz="2200" dirty="0" smtClean="0">
                <a:solidFill>
                  <a:srgbClr val="00B050"/>
                </a:solidFill>
              </a:rPr>
              <a:t> --</a:t>
            </a:r>
            <a:r>
              <a:rPr lang="en-US" sz="2200" dirty="0" smtClean="0"/>
              <a:t> </a:t>
            </a:r>
            <a:r>
              <a:rPr lang="en-US" sz="2200" dirty="0" err="1" smtClean="0">
                <a:solidFill>
                  <a:srgbClr val="00B050"/>
                </a:solidFill>
              </a:rPr>
              <a:t>coluna</a:t>
            </a:r>
            <a:r>
              <a:rPr lang="en-US" sz="2200" dirty="0" smtClean="0">
                <a:solidFill>
                  <a:srgbClr val="00B050"/>
                </a:solidFill>
              </a:rPr>
              <a:t> &lt;= 12;</a:t>
            </a:r>
          </a:p>
          <a:p>
            <a:pPr>
              <a:buNone/>
            </a:pPr>
            <a:endParaRPr lang="pt-BR" sz="2200" dirty="0" smtClean="0"/>
          </a:p>
          <a:p>
            <a:pPr>
              <a:buNone/>
            </a:pPr>
            <a:r>
              <a:rPr lang="pt-BR" sz="2200" dirty="0" smtClean="0"/>
              <a:t>&lt;&gt; (Diferente De) </a:t>
            </a:r>
            <a:r>
              <a:rPr lang="pt-BR" sz="2200" dirty="0" smtClean="0">
                <a:solidFill>
                  <a:srgbClr val="00B050"/>
                </a:solidFill>
              </a:rPr>
              <a:t>--</a:t>
            </a:r>
            <a:r>
              <a:rPr lang="en-US" sz="2200" dirty="0" smtClean="0"/>
              <a:t> </a:t>
            </a:r>
            <a:r>
              <a:rPr lang="en-US" sz="2200" dirty="0" err="1" smtClean="0">
                <a:solidFill>
                  <a:srgbClr val="00B050"/>
                </a:solidFill>
              </a:rPr>
              <a:t>coluna</a:t>
            </a:r>
            <a:r>
              <a:rPr lang="en-US" sz="2200" dirty="0" smtClean="0">
                <a:solidFill>
                  <a:srgbClr val="00B050"/>
                </a:solidFill>
              </a:rPr>
              <a:t> &lt;&gt; 12;</a:t>
            </a:r>
            <a:endParaRPr lang="pt-BR" sz="2200" dirty="0" smtClean="0"/>
          </a:p>
          <a:p>
            <a:pPr>
              <a:buNone/>
            </a:pP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3438" y="1500174"/>
            <a:ext cx="4043362" cy="4625989"/>
          </a:xfrm>
        </p:spPr>
        <p:txBody>
          <a:bodyPr/>
          <a:lstStyle/>
          <a:p>
            <a:pPr>
              <a:buNone/>
            </a:pPr>
            <a:r>
              <a:rPr lang="pt-BR" dirty="0" smtClean="0"/>
              <a:t>AND (E) </a:t>
            </a:r>
            <a:r>
              <a:rPr lang="pt-BR" dirty="0" smtClean="0">
                <a:solidFill>
                  <a:srgbClr val="00B050"/>
                </a:solidFill>
              </a:rPr>
              <a:t>-- AND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00B050"/>
                </a:solidFill>
              </a:rPr>
              <a:t>coluna</a:t>
            </a:r>
            <a:r>
              <a:rPr lang="en-US" dirty="0" smtClean="0">
                <a:solidFill>
                  <a:srgbClr val="00B050"/>
                </a:solidFill>
              </a:rPr>
              <a:t> = 12;</a:t>
            </a:r>
            <a:endParaRPr lang="pt-BR" dirty="0" smtClean="0"/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OR (OU) </a:t>
            </a:r>
            <a:r>
              <a:rPr lang="pt-BR" dirty="0" smtClean="0">
                <a:solidFill>
                  <a:srgbClr val="00B050"/>
                </a:solidFill>
              </a:rPr>
              <a:t>-- OR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00B050"/>
                </a:solidFill>
              </a:rPr>
              <a:t>coluna</a:t>
            </a:r>
            <a:r>
              <a:rPr lang="en-US" dirty="0" smtClean="0">
                <a:solidFill>
                  <a:srgbClr val="00B050"/>
                </a:solidFill>
              </a:rPr>
              <a:t> = 12;</a:t>
            </a:r>
            <a:endParaRPr lang="pt-BR" dirty="0" smtClean="0"/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NOT (NÃO) </a:t>
            </a:r>
            <a:r>
              <a:rPr lang="pt-BR" dirty="0" smtClean="0">
                <a:solidFill>
                  <a:srgbClr val="00B050"/>
                </a:solidFill>
              </a:rPr>
              <a:t>– NOT </a:t>
            </a:r>
            <a:r>
              <a:rPr lang="en-US" dirty="0" err="1" smtClean="0">
                <a:solidFill>
                  <a:srgbClr val="00B050"/>
                </a:solidFill>
              </a:rPr>
              <a:t>coluna</a:t>
            </a:r>
            <a:r>
              <a:rPr lang="en-US" dirty="0" smtClean="0">
                <a:solidFill>
                  <a:srgbClr val="00B050"/>
                </a:solidFill>
              </a:rPr>
              <a:t> = 12;</a:t>
            </a:r>
            <a:endParaRPr lang="pt-BR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ORDER BY (ORDENAÇÃO)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 -- </a:t>
            </a:r>
            <a:r>
              <a:rPr lang="en-US" dirty="0" err="1" smtClean="0">
                <a:solidFill>
                  <a:srgbClr val="00B050"/>
                </a:solidFill>
              </a:rPr>
              <a:t>Crescente</a:t>
            </a:r>
            <a:r>
              <a:rPr lang="en-US" dirty="0" smtClean="0">
                <a:solidFill>
                  <a:srgbClr val="00B050"/>
                </a:solidFill>
              </a:rPr>
              <a:t> (ASC)</a:t>
            </a:r>
            <a:endParaRPr lang="pt-BR" dirty="0" smtClean="0">
              <a:solidFill>
                <a:srgbClr val="00B050"/>
              </a:solidFill>
            </a:endParaRP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SELECT</a:t>
            </a:r>
            <a:r>
              <a:rPr lang="pt-BR" dirty="0" smtClean="0"/>
              <a:t> </a:t>
            </a:r>
            <a:r>
              <a:rPr lang="pt-BR" dirty="0"/>
              <a:t>* </a:t>
            </a:r>
            <a:r>
              <a:rPr lang="pt-BR" dirty="0">
                <a:solidFill>
                  <a:srgbClr val="FF0000"/>
                </a:solidFill>
              </a:rPr>
              <a:t>FROM</a:t>
            </a:r>
            <a:r>
              <a:rPr lang="pt-BR" dirty="0"/>
              <a:t> </a:t>
            </a:r>
            <a:r>
              <a:rPr lang="pt-BR" dirty="0" smtClean="0"/>
              <a:t>tabela </a:t>
            </a:r>
            <a:r>
              <a:rPr lang="en-US" dirty="0" smtClean="0">
                <a:solidFill>
                  <a:srgbClr val="FF0000"/>
                </a:solidFill>
              </a:rPr>
              <a:t>ORDER </a:t>
            </a:r>
            <a:r>
              <a:rPr lang="en-US" dirty="0">
                <a:solidFill>
                  <a:srgbClr val="FF0000"/>
                </a:solidFill>
              </a:rPr>
              <a:t>BY </a:t>
            </a:r>
            <a:r>
              <a:rPr lang="en-US" dirty="0" err="1"/>
              <a:t>coluna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ASC</a:t>
            </a:r>
            <a:r>
              <a:rPr lang="en-US" dirty="0"/>
              <a:t>; 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-- </a:t>
            </a:r>
            <a:r>
              <a:rPr lang="en-US" dirty="0" err="1" smtClean="0">
                <a:solidFill>
                  <a:srgbClr val="00B050"/>
                </a:solidFill>
              </a:rPr>
              <a:t>Decrescente</a:t>
            </a:r>
            <a:r>
              <a:rPr lang="en-US" dirty="0" smtClean="0">
                <a:solidFill>
                  <a:srgbClr val="00B050"/>
                </a:solidFill>
              </a:rPr>
              <a:t> (DESC)</a:t>
            </a:r>
            <a:endParaRPr lang="en-US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SELECT</a:t>
            </a:r>
            <a:r>
              <a:rPr lang="pt-BR" dirty="0" smtClean="0"/>
              <a:t> * </a:t>
            </a:r>
            <a:r>
              <a:rPr lang="pt-BR" dirty="0" smtClean="0">
                <a:solidFill>
                  <a:srgbClr val="FF0000"/>
                </a:solidFill>
              </a:rPr>
              <a:t>FROM</a:t>
            </a:r>
            <a:r>
              <a:rPr lang="pt-BR" dirty="0" smtClean="0"/>
              <a:t> tabela </a:t>
            </a:r>
            <a:r>
              <a:rPr lang="en-US" dirty="0" smtClean="0">
                <a:solidFill>
                  <a:srgbClr val="FF0000"/>
                </a:solidFill>
              </a:rPr>
              <a:t>ORDER</a:t>
            </a:r>
            <a:r>
              <a:rPr lang="en-US" dirty="0" smtClean="0"/>
              <a:t> </a:t>
            </a:r>
            <a:r>
              <a:rPr lang="en-US" dirty="0"/>
              <a:t>BY </a:t>
            </a:r>
            <a:r>
              <a:rPr lang="en-US" dirty="0" err="1"/>
              <a:t>coluna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DESC</a:t>
            </a:r>
            <a:r>
              <a:rPr lang="en-US" dirty="0"/>
              <a:t>; 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INSERÇÃO (</a:t>
            </a:r>
            <a:r>
              <a:rPr lang="pt-BR" dirty="0"/>
              <a:t>INSERT </a:t>
            </a:r>
            <a:r>
              <a:rPr lang="pt-BR" dirty="0" smtClean="0"/>
              <a:t>INTO)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t-BR" dirty="0" smtClean="0">
                <a:solidFill>
                  <a:srgbClr val="00B050"/>
                </a:solidFill>
              </a:rPr>
              <a:t>-- Único</a:t>
            </a:r>
            <a:endParaRPr lang="pt-BR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INSERT </a:t>
            </a:r>
            <a:r>
              <a:rPr lang="pt-BR" dirty="0">
                <a:solidFill>
                  <a:srgbClr val="FF0000"/>
                </a:solidFill>
              </a:rPr>
              <a:t>INTO </a:t>
            </a:r>
            <a:r>
              <a:rPr lang="pt-BR" dirty="0"/>
              <a:t>tabela </a:t>
            </a:r>
            <a:r>
              <a:rPr lang="pt-BR" dirty="0" smtClean="0"/>
              <a:t>(</a:t>
            </a:r>
            <a:r>
              <a:rPr lang="en-US" dirty="0" err="1" smtClean="0"/>
              <a:t>coluna</a:t>
            </a:r>
            <a:r>
              <a:rPr lang="pt-BR" dirty="0" smtClean="0"/>
              <a:t>1</a:t>
            </a:r>
            <a:r>
              <a:rPr lang="pt-BR" dirty="0"/>
              <a:t>, </a:t>
            </a:r>
            <a:r>
              <a:rPr lang="en-US" dirty="0" err="1" smtClean="0"/>
              <a:t>coluna</a:t>
            </a:r>
            <a:r>
              <a:rPr lang="pt-BR" dirty="0" smtClean="0"/>
              <a:t>2) 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VALUES </a:t>
            </a:r>
            <a:r>
              <a:rPr lang="pt-BR" dirty="0" smtClean="0"/>
              <a:t>(</a:t>
            </a:r>
            <a:r>
              <a:rPr lang="pt-BR" dirty="0"/>
              <a:t>'valor1', 'valor2</a:t>
            </a:r>
            <a:r>
              <a:rPr lang="pt-BR" dirty="0" smtClean="0"/>
              <a:t>');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 smtClean="0">
                <a:solidFill>
                  <a:srgbClr val="00B050"/>
                </a:solidFill>
              </a:rPr>
              <a:t>-- </a:t>
            </a:r>
            <a:r>
              <a:rPr lang="pt-BR" dirty="0">
                <a:solidFill>
                  <a:srgbClr val="00B050"/>
                </a:solidFill>
              </a:rPr>
              <a:t>Múltiplos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INSERT</a:t>
            </a:r>
            <a:r>
              <a:rPr lang="pt-BR" dirty="0"/>
              <a:t> </a:t>
            </a:r>
            <a:r>
              <a:rPr lang="pt-BR" dirty="0">
                <a:solidFill>
                  <a:srgbClr val="FF0000"/>
                </a:solidFill>
              </a:rPr>
              <a:t>INTO</a:t>
            </a:r>
            <a:r>
              <a:rPr lang="pt-BR" dirty="0"/>
              <a:t> tabela </a:t>
            </a:r>
            <a:r>
              <a:rPr lang="pt-BR" dirty="0" smtClean="0"/>
              <a:t>(</a:t>
            </a:r>
            <a:r>
              <a:rPr lang="en-US" dirty="0" err="1" smtClean="0"/>
              <a:t>coluna</a:t>
            </a:r>
            <a:r>
              <a:rPr lang="pt-BR" dirty="0" smtClean="0"/>
              <a:t>1</a:t>
            </a:r>
            <a:r>
              <a:rPr lang="pt-BR" dirty="0"/>
              <a:t>, </a:t>
            </a:r>
            <a:r>
              <a:rPr lang="en-US" dirty="0" err="1" smtClean="0"/>
              <a:t>coluna</a:t>
            </a:r>
            <a:r>
              <a:rPr lang="pt-BR" dirty="0" smtClean="0"/>
              <a:t>2)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VALUES </a:t>
            </a:r>
            <a:r>
              <a:rPr lang="pt-BR" dirty="0" smtClean="0"/>
              <a:t>(</a:t>
            </a:r>
            <a:r>
              <a:rPr lang="pt-BR" dirty="0"/>
              <a:t>'v1','v2</a:t>
            </a:r>
            <a:r>
              <a:rPr lang="pt-BR" dirty="0" smtClean="0"/>
              <a:t>'), (</a:t>
            </a:r>
            <a:r>
              <a:rPr lang="pt-BR" dirty="0"/>
              <a:t>'v3','v4');</a:t>
            </a:r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Atualizar (UPDATE)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pt-BR" dirty="0" smtClean="0">
                <a:solidFill>
                  <a:srgbClr val="00B050"/>
                </a:solidFill>
              </a:rPr>
              <a:t>-- Atualizar Dados</a:t>
            </a:r>
            <a:endParaRPr lang="pt-BR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UPDATE</a:t>
            </a:r>
            <a:r>
              <a:rPr lang="pt-BR" dirty="0" smtClean="0"/>
              <a:t> tabela 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SET</a:t>
            </a:r>
            <a:r>
              <a:rPr lang="pt-BR" dirty="0" smtClean="0"/>
              <a:t> </a:t>
            </a:r>
            <a:r>
              <a:rPr lang="pt-BR" dirty="0"/>
              <a:t>coluna = </a:t>
            </a:r>
            <a:r>
              <a:rPr lang="pt-BR" dirty="0" smtClean="0">
                <a:solidFill>
                  <a:srgbClr val="00B0F0"/>
                </a:solidFill>
              </a:rPr>
              <a:t>'</a:t>
            </a:r>
            <a:r>
              <a:rPr lang="pt-BR" dirty="0" err="1" smtClean="0">
                <a:solidFill>
                  <a:srgbClr val="00B0F0"/>
                </a:solidFill>
              </a:rPr>
              <a:t>novo_valor</a:t>
            </a:r>
            <a:r>
              <a:rPr lang="pt-BR" dirty="0" smtClean="0">
                <a:solidFill>
                  <a:srgbClr val="00B0F0"/>
                </a:solidFill>
              </a:rPr>
              <a:t>' 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WHERE</a:t>
            </a:r>
            <a:r>
              <a:rPr lang="pt-BR" dirty="0" smtClean="0"/>
              <a:t> </a:t>
            </a:r>
            <a:r>
              <a:rPr lang="pt-BR" dirty="0"/>
              <a:t>condição;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>
                <a:solidFill>
                  <a:srgbClr val="00B050"/>
                </a:solidFill>
              </a:rPr>
              <a:t>-- Atualizar </a:t>
            </a:r>
            <a:r>
              <a:rPr lang="pt-BR" dirty="0" err="1" smtClean="0">
                <a:solidFill>
                  <a:srgbClr val="00B050"/>
                </a:solidFill>
              </a:rPr>
              <a:t>Multiplos</a:t>
            </a:r>
            <a:r>
              <a:rPr lang="pt-BR" dirty="0" smtClean="0">
                <a:solidFill>
                  <a:srgbClr val="00B050"/>
                </a:solidFill>
              </a:rPr>
              <a:t> Dados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UPDATE</a:t>
            </a:r>
            <a:r>
              <a:rPr lang="pt-BR" dirty="0"/>
              <a:t> </a:t>
            </a:r>
            <a:r>
              <a:rPr lang="pt-BR" dirty="0" err="1"/>
              <a:t>nome_tabela</a:t>
            </a:r>
            <a:r>
              <a:rPr lang="pt-BR" dirty="0"/>
              <a:t> </a:t>
            </a:r>
            <a:endParaRPr lang="pt-BR" dirty="0" smtClean="0"/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SET</a:t>
            </a:r>
            <a:r>
              <a:rPr lang="pt-BR" dirty="0" smtClean="0"/>
              <a:t> </a:t>
            </a:r>
            <a:r>
              <a:rPr lang="pt-BR" dirty="0"/>
              <a:t>coluna1 = '</a:t>
            </a:r>
            <a:r>
              <a:rPr lang="pt-BR" dirty="0">
                <a:solidFill>
                  <a:srgbClr val="00B0F0"/>
                </a:solidFill>
              </a:rPr>
              <a:t>novo_valor1</a:t>
            </a:r>
            <a:r>
              <a:rPr lang="pt-BR" dirty="0"/>
              <a:t>', </a:t>
            </a:r>
            <a:endParaRPr lang="pt-BR" dirty="0" smtClean="0"/>
          </a:p>
          <a:p>
            <a:pPr>
              <a:buNone/>
            </a:pPr>
            <a:r>
              <a:rPr lang="pt-BR" dirty="0" smtClean="0"/>
              <a:t>coluna2 = '</a:t>
            </a:r>
            <a:r>
              <a:rPr lang="pt-BR" dirty="0" smtClean="0">
                <a:solidFill>
                  <a:srgbClr val="00B0F0"/>
                </a:solidFill>
              </a:rPr>
              <a:t>novo_valor2</a:t>
            </a:r>
            <a:r>
              <a:rPr lang="pt-BR" dirty="0" smtClean="0"/>
              <a:t>'</a:t>
            </a:r>
            <a:endParaRPr lang="pt-BR" dirty="0" smtClean="0"/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WHERE</a:t>
            </a:r>
            <a:r>
              <a:rPr lang="pt-BR" dirty="0" smtClean="0"/>
              <a:t> </a:t>
            </a:r>
            <a:r>
              <a:rPr lang="pt-BR" dirty="0"/>
              <a:t>id = 1;</a:t>
            </a:r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Valores Nulos (NULL)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-- </a:t>
            </a:r>
            <a:r>
              <a:rPr lang="pt-BR" dirty="0" smtClean="0">
                <a:solidFill>
                  <a:srgbClr val="00B050"/>
                </a:solidFill>
              </a:rPr>
              <a:t>NULL (</a:t>
            </a:r>
            <a:r>
              <a:rPr lang="pt-BR" dirty="0" smtClean="0">
                <a:solidFill>
                  <a:srgbClr val="00B050"/>
                </a:solidFill>
              </a:rPr>
              <a:t>= Igual</a:t>
            </a:r>
            <a:r>
              <a:rPr lang="pt-BR" dirty="0" smtClean="0">
                <a:solidFill>
                  <a:srgbClr val="00B050"/>
                </a:solidFill>
              </a:rPr>
              <a:t>)</a:t>
            </a:r>
            <a:endParaRPr lang="en-US" dirty="0" smtClean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SELECT</a:t>
            </a:r>
            <a:r>
              <a:rPr lang="en-US" dirty="0" smtClean="0"/>
              <a:t> </a:t>
            </a:r>
            <a:r>
              <a:rPr lang="en-US" dirty="0"/>
              <a:t>* </a:t>
            </a:r>
            <a:r>
              <a:rPr lang="en-US" dirty="0">
                <a:solidFill>
                  <a:srgbClr val="FF0000"/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WHERE</a:t>
            </a:r>
            <a:r>
              <a:rPr lang="en-US" dirty="0" smtClean="0"/>
              <a:t> </a:t>
            </a:r>
            <a:r>
              <a:rPr lang="en-US" dirty="0" err="1"/>
              <a:t>coluna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IS NULL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-- </a:t>
            </a:r>
            <a:r>
              <a:rPr lang="pt-BR" dirty="0" smtClean="0">
                <a:solidFill>
                  <a:srgbClr val="00B050"/>
                </a:solidFill>
              </a:rPr>
              <a:t>NULL </a:t>
            </a:r>
            <a:r>
              <a:rPr lang="pt-BR" smtClean="0">
                <a:solidFill>
                  <a:srgbClr val="00B050"/>
                </a:solidFill>
              </a:rPr>
              <a:t>(&lt;&gt; Diferente De)</a:t>
            </a:r>
            <a:endParaRPr lang="en-US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SELECT</a:t>
            </a:r>
            <a:r>
              <a:rPr lang="en-US" dirty="0"/>
              <a:t> * </a:t>
            </a:r>
            <a:r>
              <a:rPr lang="en-US" dirty="0">
                <a:solidFill>
                  <a:srgbClr val="FF0000"/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WHERE</a:t>
            </a:r>
            <a:r>
              <a:rPr lang="en-US" dirty="0" smtClean="0"/>
              <a:t> </a:t>
            </a:r>
            <a:r>
              <a:rPr lang="en-US" dirty="0" err="1"/>
              <a:t>coluna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IS NOT NULL</a:t>
            </a:r>
            <a:r>
              <a:rPr lang="en-US" dirty="0"/>
              <a:t>;</a:t>
            </a:r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LIMITAR </a:t>
            </a:r>
            <a:r>
              <a:rPr lang="pt-BR" dirty="0" smtClean="0"/>
              <a:t>RESULTADOS (TOP)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-- Top 3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SELECT </a:t>
            </a:r>
            <a:r>
              <a:rPr lang="en-US" dirty="0">
                <a:solidFill>
                  <a:srgbClr val="FF0000"/>
                </a:solidFill>
              </a:rPr>
              <a:t>TOP </a:t>
            </a:r>
            <a:r>
              <a:rPr lang="en-US" dirty="0" smtClean="0">
                <a:solidFill>
                  <a:srgbClr val="00B050"/>
                </a:solidFill>
              </a:rPr>
              <a:t>valor</a:t>
            </a:r>
            <a:r>
              <a:rPr lang="en-US" dirty="0" smtClean="0"/>
              <a:t> </a:t>
            </a:r>
            <a:r>
              <a:rPr lang="en-US" dirty="0"/>
              <a:t>* </a:t>
            </a:r>
            <a:r>
              <a:rPr lang="en-US" dirty="0">
                <a:solidFill>
                  <a:srgbClr val="FF0000"/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-- </a:t>
            </a:r>
            <a:r>
              <a:rPr lang="en-US" dirty="0" err="1" smtClean="0">
                <a:solidFill>
                  <a:srgbClr val="00B050"/>
                </a:solidFill>
              </a:rPr>
              <a:t>Exemplo</a:t>
            </a:r>
            <a:endParaRPr lang="en-US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SELECT TOP </a:t>
            </a:r>
            <a:r>
              <a:rPr lang="en-US" dirty="0" smtClean="0">
                <a:solidFill>
                  <a:srgbClr val="00B050"/>
                </a:solidFill>
              </a:rPr>
              <a:t>3</a:t>
            </a:r>
            <a:r>
              <a:rPr lang="en-US" dirty="0" smtClean="0"/>
              <a:t> * </a:t>
            </a:r>
            <a:r>
              <a:rPr lang="en-US" dirty="0" smtClean="0">
                <a:solidFill>
                  <a:srgbClr val="FF0000"/>
                </a:solidFill>
              </a:rPr>
              <a:t>FROM</a:t>
            </a:r>
            <a:r>
              <a:rPr lang="en-US" dirty="0" smtClean="0"/>
              <a:t> </a:t>
            </a:r>
            <a:r>
              <a:rPr lang="en-US" dirty="0" err="1" smtClean="0"/>
              <a:t>tabela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FUNÇÕES </a:t>
            </a:r>
            <a:r>
              <a:rPr lang="pt-BR" dirty="0" smtClean="0"/>
              <a:t>AGREGADAS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pt-BR" dirty="0" smtClean="0">
                <a:solidFill>
                  <a:srgbClr val="00B050"/>
                </a:solidFill>
              </a:rPr>
              <a:t>-- Encontra o menor valor no conjunto.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SELECT</a:t>
            </a:r>
            <a:r>
              <a:rPr lang="pt-BR" dirty="0" smtClean="0"/>
              <a:t> </a:t>
            </a:r>
            <a:r>
              <a:rPr lang="pt-BR" dirty="0">
                <a:solidFill>
                  <a:srgbClr val="FFC000"/>
                </a:solidFill>
              </a:rPr>
              <a:t>MIN(</a:t>
            </a:r>
            <a:r>
              <a:rPr lang="pt-BR" dirty="0"/>
              <a:t>coluna</a:t>
            </a:r>
            <a:r>
              <a:rPr lang="pt-BR" dirty="0">
                <a:solidFill>
                  <a:srgbClr val="FFC000"/>
                </a:solidFill>
              </a:rPr>
              <a:t>)</a:t>
            </a:r>
            <a:r>
              <a:rPr lang="pt-BR" dirty="0"/>
              <a:t> </a:t>
            </a:r>
            <a:r>
              <a:rPr lang="pt-BR" dirty="0">
                <a:solidFill>
                  <a:srgbClr val="FF0000"/>
                </a:solidFill>
              </a:rPr>
              <a:t>FROM</a:t>
            </a:r>
            <a:r>
              <a:rPr lang="pt-BR" dirty="0"/>
              <a:t> tabela</a:t>
            </a:r>
            <a:r>
              <a:rPr lang="pt-BR" dirty="0" smtClean="0"/>
              <a:t>;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>
                <a:solidFill>
                  <a:srgbClr val="00B050"/>
                </a:solidFill>
              </a:rPr>
              <a:t>-- Encontra o maior valor no conjunto.</a:t>
            </a:r>
            <a:endParaRPr lang="pt-BR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SELECT</a:t>
            </a:r>
            <a:r>
              <a:rPr lang="pt-BR" dirty="0"/>
              <a:t> </a:t>
            </a:r>
            <a:r>
              <a:rPr lang="pt-BR" dirty="0">
                <a:solidFill>
                  <a:srgbClr val="FFC000"/>
                </a:solidFill>
              </a:rPr>
              <a:t>MAX(</a:t>
            </a:r>
            <a:r>
              <a:rPr lang="pt-BR" dirty="0"/>
              <a:t>coluna</a:t>
            </a:r>
            <a:r>
              <a:rPr lang="pt-BR" dirty="0">
                <a:solidFill>
                  <a:srgbClr val="FFC000"/>
                </a:solidFill>
              </a:rPr>
              <a:t>) </a:t>
            </a:r>
            <a:r>
              <a:rPr lang="pt-BR" dirty="0">
                <a:solidFill>
                  <a:srgbClr val="FF0000"/>
                </a:solidFill>
              </a:rPr>
              <a:t>FROM</a:t>
            </a:r>
            <a:r>
              <a:rPr lang="pt-BR" dirty="0"/>
              <a:t> tabela</a:t>
            </a:r>
            <a:r>
              <a:rPr lang="pt-BR" dirty="0" smtClean="0"/>
              <a:t>;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>
                <a:solidFill>
                  <a:srgbClr val="00B050"/>
                </a:solidFill>
              </a:rPr>
              <a:t>--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00B050"/>
                </a:solidFill>
              </a:rPr>
              <a:t>Conta o número de linhas ou valores não nulos</a:t>
            </a:r>
            <a:endParaRPr lang="pt-BR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SELECT</a:t>
            </a:r>
            <a:r>
              <a:rPr lang="pt-BR" dirty="0"/>
              <a:t> </a:t>
            </a:r>
            <a:r>
              <a:rPr lang="pt-BR" dirty="0">
                <a:solidFill>
                  <a:srgbClr val="FFC000"/>
                </a:solidFill>
              </a:rPr>
              <a:t>COUNT(*) </a:t>
            </a:r>
            <a:r>
              <a:rPr lang="pt-BR" dirty="0">
                <a:solidFill>
                  <a:srgbClr val="FF0000"/>
                </a:solidFill>
              </a:rPr>
              <a:t>FROM</a:t>
            </a:r>
            <a:r>
              <a:rPr lang="pt-BR" dirty="0"/>
              <a:t> tabela</a:t>
            </a:r>
            <a:r>
              <a:rPr lang="pt-BR" dirty="0" smtClean="0"/>
              <a:t>;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>
                <a:solidFill>
                  <a:srgbClr val="00B050"/>
                </a:solidFill>
              </a:rPr>
              <a:t>-- Calcula a soma total de valores numéricos.</a:t>
            </a:r>
            <a:endParaRPr lang="pt-BR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SELECT</a:t>
            </a:r>
            <a:r>
              <a:rPr lang="pt-BR" dirty="0"/>
              <a:t> </a:t>
            </a:r>
            <a:r>
              <a:rPr lang="pt-BR" dirty="0">
                <a:solidFill>
                  <a:srgbClr val="FFC000"/>
                </a:solidFill>
              </a:rPr>
              <a:t>SUM(</a:t>
            </a:r>
            <a:r>
              <a:rPr lang="pt-BR" dirty="0"/>
              <a:t>coluna</a:t>
            </a:r>
            <a:r>
              <a:rPr lang="pt-BR" dirty="0">
                <a:solidFill>
                  <a:srgbClr val="FFC000"/>
                </a:solidFill>
              </a:rPr>
              <a:t>)</a:t>
            </a:r>
            <a:r>
              <a:rPr lang="pt-BR" dirty="0"/>
              <a:t> </a:t>
            </a:r>
            <a:r>
              <a:rPr lang="pt-BR" dirty="0">
                <a:solidFill>
                  <a:srgbClr val="FF0000"/>
                </a:solidFill>
              </a:rPr>
              <a:t>FROM</a:t>
            </a:r>
            <a:r>
              <a:rPr lang="pt-BR" dirty="0"/>
              <a:t> tabela</a:t>
            </a:r>
            <a:r>
              <a:rPr lang="pt-BR" dirty="0" smtClean="0"/>
              <a:t>;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>
                <a:solidFill>
                  <a:srgbClr val="00B050"/>
                </a:solidFill>
              </a:rPr>
              <a:t>-- Retorna a média aritmética dos valores.</a:t>
            </a:r>
            <a:endParaRPr lang="pt-BR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SELECT</a:t>
            </a:r>
            <a:r>
              <a:rPr lang="pt-BR" dirty="0"/>
              <a:t> </a:t>
            </a:r>
            <a:r>
              <a:rPr lang="pt-BR" dirty="0">
                <a:solidFill>
                  <a:srgbClr val="FFC000"/>
                </a:solidFill>
              </a:rPr>
              <a:t>AVG(</a:t>
            </a:r>
            <a:r>
              <a:rPr lang="pt-BR" dirty="0"/>
              <a:t>coluna</a:t>
            </a:r>
            <a:r>
              <a:rPr lang="pt-BR" dirty="0">
                <a:solidFill>
                  <a:srgbClr val="FFC000"/>
                </a:solidFill>
              </a:rPr>
              <a:t>)</a:t>
            </a:r>
            <a:r>
              <a:rPr lang="pt-BR" dirty="0"/>
              <a:t> </a:t>
            </a:r>
            <a:r>
              <a:rPr lang="pt-BR" dirty="0">
                <a:solidFill>
                  <a:srgbClr val="FF0000"/>
                </a:solidFill>
              </a:rPr>
              <a:t>FROM</a:t>
            </a:r>
            <a:r>
              <a:rPr lang="pt-BR" dirty="0"/>
              <a:t> tabela;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 smtClean="0"/>
              <a:t>AGRUPAR POR (</a:t>
            </a:r>
            <a:r>
              <a:rPr lang="pt-BR" dirty="0" smtClean="0"/>
              <a:t>GROUP BY)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coluna</a:t>
            </a:r>
            <a:r>
              <a:rPr lang="en-US" dirty="0"/>
              <a:t>, </a:t>
            </a:r>
            <a:r>
              <a:rPr lang="en-US" dirty="0">
                <a:solidFill>
                  <a:srgbClr val="FFC000"/>
                </a:solidFill>
              </a:rPr>
              <a:t>COUNT(</a:t>
            </a:r>
            <a:r>
              <a:rPr lang="en-US" dirty="0"/>
              <a:t>*</a:t>
            </a:r>
            <a:r>
              <a:rPr lang="en-US" dirty="0">
                <a:solidFill>
                  <a:srgbClr val="FFC000"/>
                </a:solidFill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tabela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GROUP BY </a:t>
            </a:r>
            <a:r>
              <a:rPr lang="en-US" dirty="0" err="1"/>
              <a:t>coluna</a:t>
            </a:r>
            <a:r>
              <a:rPr lang="en-US" dirty="0"/>
              <a:t>;</a:t>
            </a:r>
          </a:p>
          <a:p>
            <a:endParaRPr lang="pt-BR" dirty="0" smtClean="0"/>
          </a:p>
          <a:p>
            <a:pPr>
              <a:buNone/>
            </a:pPr>
            <a:r>
              <a:rPr lang="pt-BR" dirty="0" smtClean="0">
                <a:solidFill>
                  <a:srgbClr val="00B050"/>
                </a:solidFill>
              </a:rPr>
              <a:t>-- Exemplo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SELECT</a:t>
            </a:r>
            <a:r>
              <a:rPr lang="en-US" dirty="0" smtClean="0"/>
              <a:t> </a:t>
            </a:r>
            <a:r>
              <a:rPr lang="en-US" dirty="0" err="1" smtClean="0"/>
              <a:t>id_cliente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C000"/>
                </a:solidFill>
              </a:rPr>
              <a:t>SUM(</a:t>
            </a:r>
            <a:r>
              <a:rPr lang="en-US" dirty="0" err="1" smtClean="0"/>
              <a:t>total_venda</a:t>
            </a:r>
            <a:r>
              <a:rPr lang="en-US" dirty="0" smtClean="0">
                <a:solidFill>
                  <a:srgbClr val="FFC000"/>
                </a:solidFill>
              </a:rPr>
              <a:t>) 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FROM</a:t>
            </a:r>
            <a:r>
              <a:rPr lang="en-US" dirty="0" smtClean="0"/>
              <a:t> </a:t>
            </a:r>
            <a:r>
              <a:rPr lang="en-US" dirty="0" err="1" smtClean="0"/>
              <a:t>vendas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GROUP BY </a:t>
            </a:r>
            <a:r>
              <a:rPr lang="en-US" dirty="0" err="1" smtClean="0"/>
              <a:t>id_cliente</a:t>
            </a:r>
            <a:r>
              <a:rPr lang="en-US" dirty="0" smtClean="0"/>
              <a:t>;</a:t>
            </a:r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Busca com padrão (LIKE 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pt-BR" dirty="0" smtClean="0">
                <a:solidFill>
                  <a:srgbClr val="00B050"/>
                </a:solidFill>
              </a:rPr>
              <a:t>-- começa com A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SELECT</a:t>
            </a:r>
            <a:r>
              <a:rPr lang="pt-BR" dirty="0" smtClean="0"/>
              <a:t> </a:t>
            </a:r>
            <a:r>
              <a:rPr lang="pt-BR" dirty="0"/>
              <a:t>* </a:t>
            </a:r>
            <a:r>
              <a:rPr lang="pt-BR" dirty="0">
                <a:solidFill>
                  <a:srgbClr val="FF0000"/>
                </a:solidFill>
              </a:rPr>
              <a:t>FROM</a:t>
            </a:r>
            <a:r>
              <a:rPr lang="pt-BR" dirty="0"/>
              <a:t> tabela </a:t>
            </a:r>
            <a:r>
              <a:rPr lang="pt-BR" dirty="0">
                <a:solidFill>
                  <a:srgbClr val="FF0000"/>
                </a:solidFill>
              </a:rPr>
              <a:t>WHERE</a:t>
            </a:r>
            <a:r>
              <a:rPr lang="pt-BR" dirty="0"/>
              <a:t> nome LIKE </a:t>
            </a:r>
            <a:r>
              <a:rPr lang="pt-BR" dirty="0">
                <a:solidFill>
                  <a:srgbClr val="00B0F0"/>
                </a:solidFill>
              </a:rPr>
              <a:t>'A</a:t>
            </a:r>
            <a:r>
              <a:rPr lang="pt-BR" dirty="0" smtClean="0">
                <a:solidFill>
                  <a:srgbClr val="00B0F0"/>
                </a:solidFill>
              </a:rPr>
              <a:t>%'</a:t>
            </a:r>
            <a:r>
              <a:rPr lang="pt-BR" dirty="0" smtClean="0"/>
              <a:t>;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>
                <a:solidFill>
                  <a:srgbClr val="00B050"/>
                </a:solidFill>
              </a:rPr>
              <a:t>-- termina com A</a:t>
            </a:r>
            <a:endParaRPr lang="pt-BR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SELECT</a:t>
            </a:r>
            <a:r>
              <a:rPr lang="pt-BR" dirty="0"/>
              <a:t> * </a:t>
            </a:r>
            <a:r>
              <a:rPr lang="pt-BR" dirty="0">
                <a:solidFill>
                  <a:srgbClr val="FF0000"/>
                </a:solidFill>
              </a:rPr>
              <a:t>FROM</a:t>
            </a:r>
            <a:r>
              <a:rPr lang="pt-BR" dirty="0"/>
              <a:t> tabela </a:t>
            </a:r>
            <a:r>
              <a:rPr lang="pt-BR" dirty="0">
                <a:solidFill>
                  <a:srgbClr val="FF0000"/>
                </a:solidFill>
              </a:rPr>
              <a:t>WHERE</a:t>
            </a:r>
            <a:r>
              <a:rPr lang="pt-BR" dirty="0"/>
              <a:t> nome LIKE </a:t>
            </a:r>
            <a:r>
              <a:rPr lang="pt-BR" dirty="0">
                <a:solidFill>
                  <a:srgbClr val="00B0F0"/>
                </a:solidFill>
              </a:rPr>
              <a:t>'%A</a:t>
            </a:r>
            <a:r>
              <a:rPr lang="pt-BR" dirty="0" smtClean="0">
                <a:solidFill>
                  <a:srgbClr val="00B0F0"/>
                </a:solidFill>
              </a:rPr>
              <a:t>'</a:t>
            </a:r>
            <a:r>
              <a:rPr lang="pt-BR" dirty="0" smtClean="0"/>
              <a:t>;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>
                <a:solidFill>
                  <a:srgbClr val="00B050"/>
                </a:solidFill>
              </a:rPr>
              <a:t>-- contém A</a:t>
            </a:r>
            <a:endParaRPr lang="pt-BR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SELECT</a:t>
            </a:r>
            <a:r>
              <a:rPr lang="pt-BR" dirty="0"/>
              <a:t> * </a:t>
            </a:r>
            <a:r>
              <a:rPr lang="pt-BR" dirty="0">
                <a:solidFill>
                  <a:srgbClr val="FF0000"/>
                </a:solidFill>
              </a:rPr>
              <a:t>FROM</a:t>
            </a:r>
            <a:r>
              <a:rPr lang="pt-BR" dirty="0"/>
              <a:t> tabela </a:t>
            </a:r>
            <a:r>
              <a:rPr lang="pt-BR" dirty="0">
                <a:solidFill>
                  <a:srgbClr val="FF0000"/>
                </a:solidFill>
              </a:rPr>
              <a:t>WHERE</a:t>
            </a:r>
            <a:r>
              <a:rPr lang="pt-BR" dirty="0"/>
              <a:t> nome LIKE </a:t>
            </a:r>
            <a:r>
              <a:rPr lang="pt-BR" dirty="0">
                <a:solidFill>
                  <a:srgbClr val="00B0F0"/>
                </a:solidFill>
              </a:rPr>
              <a:t>'%A%'</a:t>
            </a:r>
            <a:r>
              <a:rPr lang="pt-BR" dirty="0"/>
              <a:t>;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SELECT</a:t>
            </a:r>
            <a:r>
              <a:rPr lang="en-US" dirty="0"/>
              <a:t> * </a:t>
            </a:r>
            <a:r>
              <a:rPr lang="en-US" dirty="0">
                <a:solidFill>
                  <a:srgbClr val="FF0000"/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 smtClean="0"/>
              <a:t>tabela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WHERE</a:t>
            </a:r>
            <a:r>
              <a:rPr lang="en-US" dirty="0" smtClean="0"/>
              <a:t> </a:t>
            </a:r>
            <a:r>
              <a:rPr lang="en-US" dirty="0" err="1" smtClean="0"/>
              <a:t>coluna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IN</a:t>
            </a:r>
            <a:r>
              <a:rPr lang="en-US" dirty="0" smtClean="0"/>
              <a:t> (</a:t>
            </a:r>
            <a:r>
              <a:rPr lang="en-US" dirty="0" smtClean="0">
                <a:solidFill>
                  <a:srgbClr val="00B0F0"/>
                </a:solidFill>
              </a:rPr>
              <a:t>'A', 'B', 'C'</a:t>
            </a:r>
            <a:r>
              <a:rPr lang="en-US" dirty="0" smtClean="0"/>
              <a:t>);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>
                <a:solidFill>
                  <a:srgbClr val="00B050"/>
                </a:solidFill>
              </a:rPr>
              <a:t>-- Exemplo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SELECT</a:t>
            </a:r>
            <a:r>
              <a:rPr lang="pt-BR" dirty="0" smtClean="0"/>
              <a:t> * </a:t>
            </a:r>
            <a:r>
              <a:rPr lang="pt-BR" dirty="0" smtClean="0">
                <a:solidFill>
                  <a:srgbClr val="FF0000"/>
                </a:solidFill>
              </a:rPr>
              <a:t>FROM</a:t>
            </a:r>
            <a:r>
              <a:rPr lang="pt-BR" dirty="0" smtClean="0"/>
              <a:t> Clientes 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WHERE</a:t>
            </a:r>
            <a:r>
              <a:rPr lang="pt-BR" dirty="0" smtClean="0"/>
              <a:t> Pais 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IN</a:t>
            </a:r>
            <a:r>
              <a:rPr lang="pt-BR" dirty="0" smtClean="0"/>
              <a:t> (</a:t>
            </a:r>
            <a:r>
              <a:rPr lang="pt-BR" dirty="0" smtClean="0">
                <a:solidFill>
                  <a:srgbClr val="00B0F0"/>
                </a:solidFill>
              </a:rPr>
              <a:t>'Alemanha', 'França', 'Reino Unido'</a:t>
            </a:r>
            <a:r>
              <a:rPr lang="pt-BR" dirty="0" smtClean="0"/>
              <a:t>);</a:t>
            </a:r>
            <a:endParaRPr lang="pt-B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Entre (BETWEEN)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-- Entre 10 e 20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SELECT</a:t>
            </a:r>
            <a:r>
              <a:rPr lang="en-US" dirty="0" smtClean="0"/>
              <a:t> </a:t>
            </a:r>
            <a:r>
              <a:rPr lang="en-US" dirty="0"/>
              <a:t>* </a:t>
            </a:r>
            <a:r>
              <a:rPr lang="en-US" dirty="0">
                <a:solidFill>
                  <a:srgbClr val="FF0000"/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 smtClean="0"/>
              <a:t>nome_tabela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WHERE</a:t>
            </a:r>
            <a:r>
              <a:rPr lang="en-US" dirty="0"/>
              <a:t> valor </a:t>
            </a:r>
            <a:r>
              <a:rPr lang="en-US" dirty="0">
                <a:solidFill>
                  <a:srgbClr val="FF0000"/>
                </a:solidFill>
              </a:rPr>
              <a:t>BETWEEN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10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AND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20</a:t>
            </a:r>
            <a:r>
              <a:rPr lang="en-US" dirty="0"/>
              <a:t>;</a:t>
            </a:r>
          </a:p>
          <a:p>
            <a:endParaRPr lang="pt-BR" dirty="0" smtClean="0"/>
          </a:p>
          <a:p>
            <a:pPr>
              <a:buNone/>
            </a:pPr>
            <a:r>
              <a:rPr lang="pt-BR" dirty="0" smtClean="0"/>
              <a:t>-- Exemplo: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SELECT</a:t>
            </a:r>
            <a:r>
              <a:rPr lang="en-US" dirty="0" smtClean="0"/>
              <a:t> * </a:t>
            </a:r>
            <a:r>
              <a:rPr lang="en-US" dirty="0" smtClean="0">
                <a:solidFill>
                  <a:srgbClr val="FF0000"/>
                </a:solidFill>
              </a:rPr>
              <a:t>FROM</a:t>
            </a:r>
            <a:r>
              <a:rPr lang="en-US" dirty="0" smtClean="0"/>
              <a:t> </a:t>
            </a:r>
            <a:r>
              <a:rPr lang="en-US" dirty="0" err="1" smtClean="0"/>
              <a:t>total_estoque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WHERE</a:t>
            </a:r>
            <a:r>
              <a:rPr lang="en-US" dirty="0" smtClean="0"/>
              <a:t> </a:t>
            </a:r>
            <a:r>
              <a:rPr lang="en-US" dirty="0" err="1" smtClean="0"/>
              <a:t>estoque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BETWEEN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50"/>
                </a:solidFill>
              </a:rPr>
              <a:t>30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AND</a:t>
            </a:r>
            <a:r>
              <a:rPr lang="en-US" dirty="0" smtClean="0"/>
              <a:t> </a:t>
            </a:r>
            <a:r>
              <a:rPr lang="en-US" dirty="0">
                <a:solidFill>
                  <a:srgbClr val="00B050"/>
                </a:solidFill>
              </a:rPr>
              <a:t>6</a:t>
            </a:r>
            <a:r>
              <a:rPr lang="en-US" dirty="0" smtClean="0">
                <a:solidFill>
                  <a:srgbClr val="00B050"/>
                </a:solidFill>
              </a:rPr>
              <a:t>0</a:t>
            </a:r>
            <a:r>
              <a:rPr lang="en-US" dirty="0" smtClean="0"/>
              <a:t>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ALIAS (AS)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>
                <a:solidFill>
                  <a:srgbClr val="00B050"/>
                </a:solidFill>
              </a:rPr>
              <a:t>-- Apelido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SELECT</a:t>
            </a:r>
            <a:r>
              <a:rPr lang="pt-BR" dirty="0" smtClean="0"/>
              <a:t> </a:t>
            </a:r>
            <a:r>
              <a:rPr lang="pt-BR" dirty="0"/>
              <a:t>coluna </a:t>
            </a:r>
            <a:r>
              <a:rPr lang="pt-BR" dirty="0">
                <a:solidFill>
                  <a:srgbClr val="FF0000"/>
                </a:solidFill>
              </a:rPr>
              <a:t>AS</a:t>
            </a:r>
            <a:r>
              <a:rPr lang="pt-BR" dirty="0"/>
              <a:t> apelido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FROM</a:t>
            </a:r>
            <a:r>
              <a:rPr lang="pt-BR" dirty="0"/>
              <a:t> tabela</a:t>
            </a:r>
            <a:r>
              <a:rPr lang="pt-BR" dirty="0" smtClean="0"/>
              <a:t>;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 smtClean="0">
                <a:solidFill>
                  <a:srgbClr val="00B050"/>
                </a:solidFill>
              </a:rPr>
              <a:t>-- Exemplo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SELECT</a:t>
            </a:r>
            <a:r>
              <a:rPr lang="pt-BR" dirty="0" smtClean="0"/>
              <a:t> </a:t>
            </a:r>
            <a:r>
              <a:rPr lang="pt-BR" dirty="0" err="1" smtClean="0"/>
              <a:t>nome_cliente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FF0000"/>
                </a:solidFill>
              </a:rPr>
              <a:t>AS</a:t>
            </a:r>
            <a:r>
              <a:rPr lang="pt-BR" dirty="0" smtClean="0"/>
              <a:t> cliente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FROM</a:t>
            </a:r>
            <a:r>
              <a:rPr lang="pt-BR" dirty="0" smtClean="0"/>
              <a:t> </a:t>
            </a:r>
            <a:r>
              <a:rPr lang="pt-BR" dirty="0" err="1" smtClean="0"/>
              <a:t>dbo</a:t>
            </a:r>
            <a:r>
              <a:rPr lang="pt-BR" dirty="0" smtClean="0"/>
              <a:t>.Clientes;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Junções (JOIN )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 smtClean="0">
                <a:solidFill>
                  <a:srgbClr val="00B050"/>
                </a:solidFill>
              </a:rPr>
              <a:t>-- INNER JOIN</a:t>
            </a:r>
            <a:endParaRPr lang="pt-BR" b="0" dirty="0">
              <a:solidFill>
                <a:srgbClr val="00B050"/>
              </a:solidFill>
            </a:endParaRP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endParaRPr lang="sv-SE" dirty="0" smtClean="0"/>
          </a:p>
          <a:p>
            <a:pPr>
              <a:buNone/>
            </a:pPr>
            <a:r>
              <a:rPr lang="sv-SE" dirty="0" smtClean="0">
                <a:solidFill>
                  <a:srgbClr val="FF0000"/>
                </a:solidFill>
              </a:rPr>
              <a:t>SELECT</a:t>
            </a:r>
            <a:r>
              <a:rPr lang="sv-SE" dirty="0" smtClean="0"/>
              <a:t> </a:t>
            </a:r>
            <a:r>
              <a:rPr lang="sv-SE" dirty="0"/>
              <a:t>*</a:t>
            </a:r>
          </a:p>
          <a:p>
            <a:pPr>
              <a:buNone/>
            </a:pPr>
            <a:r>
              <a:rPr lang="sv-SE" dirty="0">
                <a:solidFill>
                  <a:srgbClr val="FF0000"/>
                </a:solidFill>
              </a:rPr>
              <a:t>FROM</a:t>
            </a:r>
            <a:r>
              <a:rPr lang="sv-SE" dirty="0"/>
              <a:t> tabela1</a:t>
            </a:r>
          </a:p>
          <a:p>
            <a:pPr>
              <a:buNone/>
            </a:pPr>
            <a:r>
              <a:rPr lang="sv-SE" dirty="0">
                <a:solidFill>
                  <a:srgbClr val="FF0000"/>
                </a:solidFill>
              </a:rPr>
              <a:t>INNER JOIN </a:t>
            </a:r>
            <a:r>
              <a:rPr lang="sv-SE" dirty="0"/>
              <a:t>tabela2</a:t>
            </a:r>
          </a:p>
          <a:p>
            <a:pPr>
              <a:buNone/>
            </a:pPr>
            <a:r>
              <a:rPr lang="sv-SE" dirty="0">
                <a:solidFill>
                  <a:srgbClr val="FF0000"/>
                </a:solidFill>
              </a:rPr>
              <a:t>ON</a:t>
            </a:r>
            <a:r>
              <a:rPr lang="sv-SE" dirty="0"/>
              <a:t> </a:t>
            </a:r>
            <a:r>
              <a:rPr lang="sv-SE" dirty="0">
                <a:solidFill>
                  <a:srgbClr val="00B0F0"/>
                </a:solidFill>
              </a:rPr>
              <a:t>tabela1</a:t>
            </a:r>
            <a:r>
              <a:rPr lang="sv-SE" dirty="0"/>
              <a:t>.</a:t>
            </a:r>
            <a:r>
              <a:rPr lang="sv-SE" dirty="0">
                <a:solidFill>
                  <a:srgbClr val="00B0F0"/>
                </a:solidFill>
              </a:rPr>
              <a:t>id</a:t>
            </a:r>
            <a:r>
              <a:rPr lang="sv-SE" dirty="0"/>
              <a:t> = </a:t>
            </a:r>
            <a:r>
              <a:rPr lang="sv-SE" dirty="0">
                <a:solidFill>
                  <a:srgbClr val="00B0F0"/>
                </a:solidFill>
              </a:rPr>
              <a:t>tabela2</a:t>
            </a:r>
            <a:r>
              <a:rPr lang="sv-SE" dirty="0"/>
              <a:t>.</a:t>
            </a:r>
            <a:r>
              <a:rPr lang="sv-SE" dirty="0">
                <a:solidFill>
                  <a:srgbClr val="00B0F0"/>
                </a:solidFill>
              </a:rPr>
              <a:t>id</a:t>
            </a:r>
            <a:r>
              <a:rPr lang="sv-SE" dirty="0"/>
              <a:t>;</a:t>
            </a:r>
          </a:p>
          <a:p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b="0" dirty="0">
                <a:solidFill>
                  <a:srgbClr val="00B050"/>
                </a:solidFill>
              </a:rPr>
              <a:t>-- LEFT </a:t>
            </a:r>
            <a:r>
              <a:rPr lang="pt-BR" b="0" dirty="0" smtClean="0">
                <a:solidFill>
                  <a:srgbClr val="00B050"/>
                </a:solidFill>
              </a:rPr>
              <a:t>JOIN</a:t>
            </a:r>
            <a:endParaRPr lang="pt-BR" b="0" dirty="0">
              <a:solidFill>
                <a:srgbClr val="00B050"/>
              </a:solidFill>
            </a:endParaRP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pt-BR" dirty="0" smtClean="0"/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SELECT</a:t>
            </a:r>
            <a:r>
              <a:rPr lang="pt-BR" dirty="0"/>
              <a:t> *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FROM</a:t>
            </a:r>
            <a:r>
              <a:rPr lang="pt-BR" dirty="0"/>
              <a:t> tabela1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LEFT JOIN </a:t>
            </a:r>
            <a:r>
              <a:rPr lang="pt-BR" dirty="0"/>
              <a:t>tabela2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ON</a:t>
            </a:r>
            <a:r>
              <a:rPr lang="pt-BR" dirty="0"/>
              <a:t> </a:t>
            </a:r>
            <a:r>
              <a:rPr lang="pt-BR" dirty="0">
                <a:solidFill>
                  <a:srgbClr val="00B0F0"/>
                </a:solidFill>
              </a:rPr>
              <a:t>tabela1</a:t>
            </a:r>
            <a:r>
              <a:rPr lang="pt-BR" dirty="0"/>
              <a:t>.</a:t>
            </a:r>
            <a:r>
              <a:rPr lang="pt-BR" dirty="0">
                <a:solidFill>
                  <a:srgbClr val="00B0F0"/>
                </a:solidFill>
              </a:rPr>
              <a:t>id</a:t>
            </a:r>
            <a:r>
              <a:rPr lang="pt-BR" dirty="0"/>
              <a:t> = </a:t>
            </a:r>
            <a:r>
              <a:rPr lang="pt-BR" dirty="0">
                <a:solidFill>
                  <a:srgbClr val="00B0F0"/>
                </a:solidFill>
              </a:rPr>
              <a:t>tabela2</a:t>
            </a:r>
            <a:r>
              <a:rPr lang="pt-BR" dirty="0"/>
              <a:t>.</a:t>
            </a:r>
            <a:r>
              <a:rPr lang="pt-BR" dirty="0">
                <a:solidFill>
                  <a:srgbClr val="00B0F0"/>
                </a:solidFill>
              </a:rPr>
              <a:t>id</a:t>
            </a:r>
            <a:r>
              <a:rPr lang="pt-BR" dirty="0"/>
              <a:t>;</a:t>
            </a:r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Junções (JOIN )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>
                <a:solidFill>
                  <a:srgbClr val="00B050"/>
                </a:solidFill>
              </a:rPr>
              <a:t>-- RIGHT </a:t>
            </a:r>
            <a:r>
              <a:rPr lang="pt-BR" b="0" dirty="0" smtClean="0">
                <a:solidFill>
                  <a:srgbClr val="00B050"/>
                </a:solidFill>
              </a:rPr>
              <a:t>JOIN</a:t>
            </a:r>
            <a:endParaRPr lang="pt-BR" b="0" dirty="0">
              <a:solidFill>
                <a:srgbClr val="00B050"/>
              </a:solidFill>
            </a:endParaRP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SELECT</a:t>
            </a:r>
            <a:r>
              <a:rPr lang="pt-BR" dirty="0" smtClean="0"/>
              <a:t> </a:t>
            </a:r>
            <a:r>
              <a:rPr lang="pt-BR" dirty="0"/>
              <a:t>*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FROM</a:t>
            </a:r>
            <a:r>
              <a:rPr lang="pt-BR" dirty="0"/>
              <a:t> tabela1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RIGHT JOIN </a:t>
            </a:r>
            <a:r>
              <a:rPr lang="pt-BR" dirty="0"/>
              <a:t>tabela2</a:t>
            </a:r>
          </a:p>
          <a:p>
            <a:pPr>
              <a:buNone/>
            </a:pPr>
            <a:r>
              <a:rPr lang="sv-SE" dirty="0" smtClean="0">
                <a:solidFill>
                  <a:srgbClr val="FF0000"/>
                </a:solidFill>
              </a:rPr>
              <a:t>ON</a:t>
            </a:r>
            <a:r>
              <a:rPr lang="sv-SE" dirty="0" smtClean="0"/>
              <a:t> </a:t>
            </a:r>
            <a:r>
              <a:rPr lang="sv-SE" dirty="0" smtClean="0">
                <a:solidFill>
                  <a:srgbClr val="00B0F0"/>
                </a:solidFill>
              </a:rPr>
              <a:t>tabela1</a:t>
            </a:r>
            <a:r>
              <a:rPr lang="sv-SE" dirty="0" smtClean="0"/>
              <a:t>.</a:t>
            </a:r>
            <a:r>
              <a:rPr lang="sv-SE" dirty="0" smtClean="0">
                <a:solidFill>
                  <a:srgbClr val="00B0F0"/>
                </a:solidFill>
              </a:rPr>
              <a:t>id</a:t>
            </a:r>
            <a:r>
              <a:rPr lang="sv-SE" dirty="0" smtClean="0"/>
              <a:t> = </a:t>
            </a:r>
            <a:r>
              <a:rPr lang="sv-SE" dirty="0" smtClean="0">
                <a:solidFill>
                  <a:srgbClr val="00B0F0"/>
                </a:solidFill>
              </a:rPr>
              <a:t>tabela2</a:t>
            </a:r>
            <a:r>
              <a:rPr lang="sv-SE" dirty="0" smtClean="0"/>
              <a:t>.</a:t>
            </a:r>
            <a:r>
              <a:rPr lang="sv-SE" dirty="0" smtClean="0">
                <a:solidFill>
                  <a:srgbClr val="00B0F0"/>
                </a:solidFill>
              </a:rPr>
              <a:t>id</a:t>
            </a:r>
            <a:r>
              <a:rPr lang="sv-SE" dirty="0" smtClean="0"/>
              <a:t>;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b="0" dirty="0" smtClean="0">
                <a:solidFill>
                  <a:srgbClr val="00B050"/>
                </a:solidFill>
              </a:rPr>
              <a:t>-- </a:t>
            </a:r>
            <a:r>
              <a:rPr lang="pt-BR" b="0" dirty="0" smtClean="0">
                <a:solidFill>
                  <a:srgbClr val="00B050"/>
                </a:solidFill>
              </a:rPr>
              <a:t>LEFT JOIN</a:t>
            </a:r>
            <a:endParaRPr lang="pt-BR" b="0" dirty="0" smtClean="0">
              <a:solidFill>
                <a:srgbClr val="00B050"/>
              </a:solidFill>
            </a:endParaRP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pt-BR" dirty="0" smtClean="0"/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SELECT</a:t>
            </a:r>
            <a:r>
              <a:rPr lang="pt-BR" dirty="0" smtClean="0"/>
              <a:t> *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FROM</a:t>
            </a:r>
            <a:r>
              <a:rPr lang="pt-BR" dirty="0" smtClean="0"/>
              <a:t> tabela1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LEFT </a:t>
            </a:r>
            <a:r>
              <a:rPr lang="pt-BR" dirty="0" smtClean="0">
                <a:solidFill>
                  <a:srgbClr val="FF0000"/>
                </a:solidFill>
              </a:rPr>
              <a:t>JOIN </a:t>
            </a:r>
            <a:r>
              <a:rPr lang="pt-BR" dirty="0" smtClean="0"/>
              <a:t>tabela2</a:t>
            </a:r>
          </a:p>
          <a:p>
            <a:pPr>
              <a:buNone/>
            </a:pPr>
            <a:r>
              <a:rPr lang="sv-SE" dirty="0" smtClean="0">
                <a:solidFill>
                  <a:srgbClr val="FF0000"/>
                </a:solidFill>
              </a:rPr>
              <a:t>ON</a:t>
            </a:r>
            <a:r>
              <a:rPr lang="sv-SE" dirty="0" smtClean="0"/>
              <a:t> </a:t>
            </a:r>
            <a:r>
              <a:rPr lang="sv-SE" dirty="0" smtClean="0">
                <a:solidFill>
                  <a:srgbClr val="00B0F0"/>
                </a:solidFill>
              </a:rPr>
              <a:t>tabela1</a:t>
            </a:r>
            <a:r>
              <a:rPr lang="sv-SE" dirty="0" smtClean="0"/>
              <a:t>.</a:t>
            </a:r>
            <a:r>
              <a:rPr lang="sv-SE" dirty="0" smtClean="0">
                <a:solidFill>
                  <a:srgbClr val="00B0F0"/>
                </a:solidFill>
              </a:rPr>
              <a:t>id</a:t>
            </a:r>
            <a:r>
              <a:rPr lang="sv-SE" dirty="0" smtClean="0"/>
              <a:t> = </a:t>
            </a:r>
            <a:r>
              <a:rPr lang="sv-SE" dirty="0" smtClean="0">
                <a:solidFill>
                  <a:srgbClr val="00B0F0"/>
                </a:solidFill>
              </a:rPr>
              <a:t>tabela2</a:t>
            </a:r>
            <a:r>
              <a:rPr lang="sv-SE" dirty="0" smtClean="0"/>
              <a:t>.</a:t>
            </a:r>
            <a:r>
              <a:rPr lang="sv-SE" dirty="0" smtClean="0">
                <a:solidFill>
                  <a:srgbClr val="00B0F0"/>
                </a:solidFill>
              </a:rPr>
              <a:t>id</a:t>
            </a:r>
            <a:r>
              <a:rPr lang="sv-SE" dirty="0" smtClean="0"/>
              <a:t>;</a:t>
            </a:r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miro.medium.com/v2/resize:fit:700/0*bkfApXMFeO1E7Po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172" y="501306"/>
            <a:ext cx="8905984" cy="56743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UNION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 smtClean="0">
                <a:solidFill>
                  <a:srgbClr val="00B050"/>
                </a:solidFill>
              </a:rPr>
              <a:t>-- UNION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SELECT</a:t>
            </a:r>
            <a:r>
              <a:rPr lang="en-US" dirty="0" smtClean="0"/>
              <a:t> </a:t>
            </a:r>
            <a:r>
              <a:rPr lang="en-US" dirty="0" err="1" smtClean="0"/>
              <a:t>coluna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FROM</a:t>
            </a:r>
            <a:r>
              <a:rPr lang="en-US" dirty="0" smtClean="0"/>
              <a:t> tabela1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UNION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SELECT</a:t>
            </a:r>
            <a:r>
              <a:rPr lang="en-US" dirty="0" smtClean="0"/>
              <a:t> </a:t>
            </a:r>
            <a:r>
              <a:rPr lang="en-US" dirty="0" err="1" smtClean="0"/>
              <a:t>coluna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FROM</a:t>
            </a:r>
            <a:r>
              <a:rPr lang="en-US" dirty="0" smtClean="0"/>
              <a:t> tabela2;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pt-BR" dirty="0" smtClean="0">
                <a:solidFill>
                  <a:srgbClr val="00B050"/>
                </a:solidFill>
              </a:rPr>
              <a:t>-- </a:t>
            </a:r>
            <a:r>
              <a:rPr lang="pt-BR" b="0" dirty="0">
                <a:solidFill>
                  <a:srgbClr val="00B050"/>
                </a:solidFill>
              </a:rPr>
              <a:t>UNION </a:t>
            </a:r>
            <a:r>
              <a:rPr lang="pt-BR" b="0" dirty="0" smtClean="0">
                <a:solidFill>
                  <a:srgbClr val="00B050"/>
                </a:solidFill>
              </a:rPr>
              <a:t>ALL</a:t>
            </a:r>
            <a:endParaRPr lang="pt-BR" b="0" dirty="0">
              <a:solidFill>
                <a:srgbClr val="00B050"/>
              </a:solidFill>
            </a:endParaRP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pt-BR" dirty="0" smtClean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coluna</a:t>
            </a:r>
            <a:r>
              <a:rPr lang="en-US" dirty="0"/>
              <a:t> 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FROM</a:t>
            </a:r>
            <a:r>
              <a:rPr lang="en-US" dirty="0" smtClean="0"/>
              <a:t> </a:t>
            </a:r>
            <a:r>
              <a:rPr lang="en-US" dirty="0"/>
              <a:t>tabela1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UNION ALL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coluna</a:t>
            </a:r>
            <a:r>
              <a:rPr lang="en-US" dirty="0"/>
              <a:t> FROM tabela2;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* </a:t>
            </a:r>
            <a:r>
              <a:rPr lang="pt-BR" b="0" dirty="0" smtClean="0"/>
              <a:t>(inclui duplicados)</a:t>
            </a:r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</TotalTime>
  <Words>682</Words>
  <PresentationFormat>Apresentação na tela (4:3)</PresentationFormat>
  <Paragraphs>180</Paragraphs>
  <Slides>20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1" baseType="lpstr">
      <vt:lpstr>Tema do Office</vt:lpstr>
      <vt:lpstr>Banco de Dados (SQL)</vt:lpstr>
      <vt:lpstr>Banco de Dados</vt:lpstr>
      <vt:lpstr>SELECT (Consulta)</vt:lpstr>
      <vt:lpstr>WHERE (FILTROS )</vt:lpstr>
      <vt:lpstr>Operadores Lógicos</vt:lpstr>
      <vt:lpstr>ORDER BY (ORDENAÇÃO)</vt:lpstr>
      <vt:lpstr>INSERÇÃO (INSERT INTO)</vt:lpstr>
      <vt:lpstr>Atualizar (UPDATE)</vt:lpstr>
      <vt:lpstr>Valores Nulos (NULL)</vt:lpstr>
      <vt:lpstr>LIMITAR RESULTADOS (TOP)</vt:lpstr>
      <vt:lpstr>FUNÇÕES AGREGADAS</vt:lpstr>
      <vt:lpstr>AGRUPAR POR (GROUP BY)</vt:lpstr>
      <vt:lpstr>Busca com padrão (LIKE )</vt:lpstr>
      <vt:lpstr>Slide 14</vt:lpstr>
      <vt:lpstr>Entre (BETWEEN)</vt:lpstr>
      <vt:lpstr>ALIAS (AS)</vt:lpstr>
      <vt:lpstr>Junções (JOIN )</vt:lpstr>
      <vt:lpstr>Junções (JOIN )</vt:lpstr>
      <vt:lpstr>Slide 19</vt:lpstr>
      <vt:lpstr>UNION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 (SQL)</dc:title>
  <dc:creator>Joao JV. Victor</dc:creator>
  <cp:lastModifiedBy>joao.victor</cp:lastModifiedBy>
  <cp:revision>36</cp:revision>
  <dcterms:created xsi:type="dcterms:W3CDTF">2026-04-29T12:39:52Z</dcterms:created>
  <dcterms:modified xsi:type="dcterms:W3CDTF">2026-04-29T19:43:36Z</dcterms:modified>
</cp:coreProperties>
</file>